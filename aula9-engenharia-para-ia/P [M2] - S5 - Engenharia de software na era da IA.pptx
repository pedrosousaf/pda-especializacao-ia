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[00:00–00:01] O projeto de hoje é o Kahoot que vocês jogaram semana passada, só que nosso. E a primeira coisa que eu vou fazer é pedir mal pro agente.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[00:01–00:02] Mostrar onde estão os dois labs. Dos 120 minutos, 40 são de vocês.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[00:02–00:05] 3 minutos, uma notícia. Hoje o giro é curto porque o Bloco 3 é longo. O resto do giro é seu.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[00:05–00:13] Sortear 3 pessoas, uma por card. Respostas esperadas: (1) cai na Dumb Zone, o modelo esquece instrução do começo; (2) CLAUDE.md / AGENTS.md; (3) não, só nome e descrição carregam no início, o resto quando é chamada (progressive disclosure: revelar aos poucos). Fechar: hoje essas três respostas viram o motivo de escrever spec. Guardem.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[00:13–00:15] Frase da semana. Repetir nas transições: critério de aceite, validate barrando spec vaga,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[00:15–00:17] É pequeno de propósito. Quatro testes passando. Os nomes das pastas já são do domínio: isso vai fazer diferença daqui a pouco.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[00:17–00:20] Colar o prompt exatamente assim, sem nada além. Aceitar as edições. Enquanto roda, pedir palpite no chat pra pergunta do slide. Plano B: _facilitadora/plano-b/pedido-vago/diff.txt e saida.txt.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[00:20–00:23] Ponto em que dá errado de propósito, e deu errado de verdade na preparação. O agente mexeu só em rodada.js e no teste, com bons nomes. O problema: Math.min(t, limite) faz uma Resposta aos 99 s valer 500 pontos, e ele escreveu um teste garantindo isso. Também escolheu a escala sozinho ('parecida com a do Kahoot'). Perguntar: quem ia perceber isso lendo o diff às 23h? Se na sala ele fizer diferente, a lição é a mesma: ele DECIDIU uma regra que ninguém escreveu. Mostrar a decisão que ele tomou.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[00:23–00:25] Rodar na mesma sessão da demo. O esperado: escala 500–1000, clamp em limite, t negativo vira 0. Anotar no quadro as decisões.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[00:25–00:28] Clean code ajuda a LER a regra, não garante que a regra está certa. Por isso o resto da aula é sobre escrever a regra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[00:28–00:30] No nosso repo pequeno, com pasta e nome de domínio, ele não inchou. Em repo sem fronteira, com utils/ e helper.js, é isso que aparece (o repo-plantado). O GIF é ilustração. Ser honesta: os três nomes são usados em artigos e neste curso, não são termo padronizado.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[00:30–00:32] Passar rápido, o arquivo fica de referência pras semanas 7, 8 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[00:32–00:35] Amarrar com a semana 2: contexto é mesa de trabalho, não depósito. O GIF é ilustração de proporção. Fechar o bloco: pra escolher o que vai na mesa, preciso saber onde o sistema se divide e saber dizer o que é pronto. A primeira é DDD.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[00:35–00:37] Apontar Customer e Product nos dois lados. No quiz a palavra que se repete é Resposta. Já já.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[00:37–00:39] Pergunta pra turma: no projeto de vocês, o que é núcleo? O que faria alguém usar o seu e não o concorrente? Ouvir 2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[00:39–00:41] Se eu peço 'mostra as respostas da Partida', o agente entende qual dos três? E se eu mudar o gabarito no Banco, as Respostas da Partida que já aconteceram mudam?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[00:41–00:43] Jogadora e aluna são palavras diferentes de propósito: na Partida ninguém faz login. Se um dia o Diagnóstico precisar saber quem é a aluna, essa ligação é decisão de fronteira e vai pra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[00:43–00:45] Este é o DDD que não fica vago: uma linha (structuredClone) e um teste dizem onde um contexto termina. Perguntar: e se a facilitadora quiser corrigir o gabarito e recalcular os pontos? É regra de qual contexto? (Partida, e precisa de spec própria.)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[00:45–00:46] É o mesmo formato do board de Excalidraw da aula 10: caixas, seta com verbo.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[00:46–00:48] A primeira metade do GIF é ilustração de repo sem fronteira. A segunda aconteceu de verdade na preparação: com o glossário no contexto e 'mexa só em src/partida/', o agente parou e perguntou se podia mexer em tests/, que fica fora da pasta. Isso a gente vê no slide 37.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[00:48–00:50] Texto completo em _facilitadora/contexto-glossario.txt. A última regra é a vacina contra o Abstraction Bloat. Transição pro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[00:50–00:51] Explicar a divisão dos artigos (próximo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[00:51–00:56] Cronometrar 5 minutos no telão. Links completos em REFERENCIAS.md.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[00:56–01:05] Circular. Quem não acha palavra que muda de sentido: perguntar 'usuário' (quem compra × quem administra), 'status', 'item'. Projeto sem pasta separada: escrever a pasta que DEVERIA existir. Escolher 2 glossários pra mostrar no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[01:05–01:06] Voltar no slide 8: o agente fez a feature 'pronta' segundo o critério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[01:06–01:07] É uma conversa de 25 minutos com post-it. Hoje vou fazer em um GIF.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[01:07–01:09] Ler as 3 perguntas rosa e perguntar à turma qual delas o agente do slide 8 respondeu sozinho (nenhuma explicitamente; ele decidiu o fora do tempo).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[01:09–01:10] Cada número desse é um cenário. Cenário é teste antes de existir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[01:10–01:12] BDD (Behavior-Driven Development: desenvolvimento guiado por comportamento) aqui é só o formato. Não vamos instalar Cucumber. O texto é o mesmo que vai no prompt do /opsx:propose.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[01:12–01:13] Este é o uso bom do agente na spec: achar buraco. O ruim é deixar ele tapar.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[01:13–01:14] EARS volta na semana 6. Hoje é só reconhecer. Spec Kit usa Given/When/Then; OpenSpec usa SHALL + WHEN/THEN; TLC usa 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[01:14–01:15] Slide do porquê. Se só um slide do bloco ficar na cabeça deles, é 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[01:15–01:16] Cortável. O ponto: ferramenta pesada pra mudança pequena é custo. O TLC tenta resolver isso pulando fases.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[01:16–01:17] --language pt-BR faz os artefatos saírem em português e mantém SHALL e os títulos em inglês. Se o npm travar na rede da sala, trocar pra cópia já instalada.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[01:17–01:18] Colar o conteúdo de _facilitadora/contexto-glossario.txt no config.yaml. As 3 linhas do meio criam uma change vaga de propósito ('vou precisar dela daqui a pouco'), que volta no validate. O instructions precisa de uma change existente pra mostrar o contexto. Saída real, OpenSpec 1.14.0.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[01:18–01:19] O prompt inteiro, com os cenários já colados, está em _facilitadora/p2-openspec.txt. Leva de 1 a 3 minutos. Enquanto roda, ir pro próximo slide com o plano B aberto e comparar quando terminar.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[01:19–01:21] Ponto de julgamento: decidir com a turma se t == limite conta (votação rápida) e liberar tests/. Compara com o slide 8: lá ele decidiu e não contou. Plano B: _facilitadora/plano-b/openspec/saida-propose.txt.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[01:21–01:22] Ele reclama de duas coisas: falta SHALL e falta cenário. Sem cenário não tem como saber se está pronto. A ferramenta só checa a forma; se a regra está certa, quem checa é você.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[01:22–01:24] Na preparação, o /opsx:archive dentro do Claude Code parou e perguntou se sincronizava a spec principal. O comando de terminal com -y faz direto. Mostrar openspec/specs/pontuacao-por-velocidade/spec.md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[01:24–01:26] O glossário precisa estar no CLAUDE.md (colar o mesmo texto do config.yaml). Pódio é de propósito uma feature com cara de simples. Prompt em _facilitadora/p3-tlc.txt. Precisa de Python 3 pros scripts de validação.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[01:26–01:30] Ler Q3 (empate) e votar com a turma. Se perguntarem qual ferramenta usar: OpenSpec quando você já sabe a regra e quer um ciclo curto; TLC quando a feature ainda tem pergunta aberta ou é grande, porque ele escala as fases e verifica com outro agente. Plano B: _facilitadora/plano-b/tlc/.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[01:30–01:31] O sorteio por paridade divide a sala e garante que a aula 10 tenha os dois lados pra comparar.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[01:31–01:32] Windows: OpenSpec roda igual. TLC precisa de python ou py no PATH; sem Python, o agente faz a checagem lendo a spec (a skill prevê isso), e o aluno anota que não rodou o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[01:32–01:50] Circular. Erro comum 1: feature que mexe em dois contextos (dividir em duas). Erro comum 2: cenário sem número ('rápido', 'melhor'). Erro comum 3: aceitar a primeira spec sem ler. Anotar 2 specs pra mostrar no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[01:50–01:55] Armadilha conhecida do script do TLC: os critérios precisam vir na linha logo abaixo de **Acceptance Criteria**:, sem linha em branco no meio, senão ele não lê. O validador confere forma; o DIFERENCAS.md é a parte que só o aluno escreve.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[01:55–01:57] Perguntar antes de virar cada resposta. Mostrar os 2 glossários e as 2 specs anotados durante os labs.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[01:57–01:58] A rodada 2 é nova em relação ao roteiro antigo da aula 10. Trios por sorteio com prioridade a domínios diferentes (mesmo da semana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[01:58–01:59] O ENTREGAVEL.md atual fala do RELATORIO-FRONTEIRA.md; precisa ser atualizado pra esta versão.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[01:59–02:00] Lista completa com URL em REFERENCIAS.md.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[02:00] Encerramento. Regra da casa.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jpg"/><Relationship Id="rId3" Type="http://schemas.openxmlformats.org/officeDocument/2006/relationships/image" Target="../media/image-2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gif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pic>
        <p:nvPicPr>
          <p:cNvPr id="3" name="Image 0" descr="/home/claude/deck/star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1920240" cy="1920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577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PROGRAMADORES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DO AMANHÃ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48056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ESPECIALIZAÇÃO EM DESENVOLVIMENTO COM IA  ·  TURMA 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480560" y="1143000"/>
            <a:ext cx="3438144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480560" y="1143000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&lt;/MÓDULO 2 · AULA 9&gt;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182880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ENGENHARIA DE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SOFTWARE NA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ERA DA IA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41605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code, DDD e spec. Hoje a gente escreve o quiz da PDA.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Iasmim Oliveira  ·  Facilitadora</a:t>
            </a:r>
            <a:endParaRPr lang="en-US" sz="1100" dirty="0"/>
          </a:p>
        </p:txBody>
      </p:sp>
      <p:pic>
        <p:nvPicPr>
          <p:cNvPr id="11" name="Image 1" descr="/home/claude/deck/media/capa-cronomet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663440"/>
            <a:ext cx="3429000" cy="1628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AULA 9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500530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15005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&lt;/HOJE&gt;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Dos 120 minutos, 40 são de vocês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377440"/>
            <a:ext cx="407289" cy="137160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" y="2487168"/>
            <a:ext cx="3158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0:00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621792" y="2788920"/>
            <a:ext cx="29756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Giro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840480"/>
            <a:ext cx="4072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min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010793" y="2377440"/>
            <a:ext cx="869442" cy="137160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083945" y="2487168"/>
            <a:ext cx="778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0:05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083945" y="2788920"/>
            <a:ext cx="7597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Recap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010793" y="3840480"/>
            <a:ext cx="869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min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1935099" y="2377440"/>
            <a:ext cx="1793748" cy="137160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008251" y="2487168"/>
            <a:ext cx="17023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0:15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2008251" y="2788920"/>
            <a:ext cx="16840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Pedido vago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935099" y="3840480"/>
            <a:ext cx="1793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min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783711" y="2377440"/>
            <a:ext cx="1331595" cy="137160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856863" y="2487168"/>
            <a:ext cx="12401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0:35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3856863" y="2788920"/>
            <a:ext cx="122186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DDD no quiz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3783711" y="3840480"/>
            <a:ext cx="13315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min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170170" y="2377440"/>
            <a:ext cx="1331595" cy="137160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243322" y="2487168"/>
            <a:ext cx="12401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0:50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5243322" y="2788920"/>
            <a:ext cx="122186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1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5170170" y="3840480"/>
            <a:ext cx="13315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min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556629" y="2377440"/>
            <a:ext cx="2255901" cy="137160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629781" y="2487168"/>
            <a:ext cx="2164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1:05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6629781" y="2788920"/>
            <a:ext cx="214617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Spec, OpenSpec, TLC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6556629" y="3840480"/>
            <a:ext cx="22559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 min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8867394" y="2377440"/>
            <a:ext cx="2255901" cy="137160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8940546" y="2487168"/>
            <a:ext cx="2164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1:30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8940546" y="2788920"/>
            <a:ext cx="214617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2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8867394" y="3840480"/>
            <a:ext cx="22559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 min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11178159" y="2377440"/>
            <a:ext cx="407289" cy="137160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11251311" y="2487168"/>
            <a:ext cx="3158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1:55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11251311" y="2788920"/>
            <a:ext cx="29756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Fim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11178159" y="3840480"/>
            <a:ext cx="4072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min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548640" y="4572000"/>
            <a:ext cx="11091672" cy="68580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777240" y="457200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Você sai daqui com:</a:t>
            </a:r>
            <a:pPr indent="0" marL="0">
              <a:buNone/>
            </a:pPr>
            <a:r>
              <a:rPr lang="en-US" sz="15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um glossário do seu projeto, uma fronteira desenhada e uma spec validada por ferramenta.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GIRO DAS IAS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692908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26929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&lt;/GIRO DAS IAS&gt;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 Thoughtworks testou três ferramentas de spec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pic>
        <p:nvPicPr>
          <p:cNvPr id="8" name="Image 1" descr="/home/claude/deck/media/ref-bockeler-sdd-visao-ge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91356"/>
            <a:ext cx="6035040" cy="364688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949440" y="21945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Birgitta Böckeler testou 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Kiro, spec-kit e Tessl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as três ferramentas de spec-driven development mais citadas, e publicou o que achou.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6949440" y="3931920"/>
            <a:ext cx="4663440" cy="118872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178040" y="39319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crítica principal: markdown demais pra revisar. A gente volta nisso daqui a pouco.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martinfowler.com/articles/exploring-gen-ai/sdd-3-tools.html (imagem: Birgitta Böckeler)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RECAP ATIVO · SORTEIO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649578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16495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&lt;/RECAP&gt;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Três semanas, três perguntas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148840"/>
            <a:ext cx="3566160" cy="32918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3500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[SEMANA 2]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697480"/>
            <a:ext cx="3108960" cy="749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Contexto é mesa de trabalho.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556254"/>
            <a:ext cx="3108960" cy="1747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acontece com a resposta do modelo quando a mesa está lotada?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97680" y="2148840"/>
            <a:ext cx="3566160" cy="32918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26280" y="23500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[SEMANA 3]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697480"/>
            <a:ext cx="3108960" cy="749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Até você contar pra ela.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3556254"/>
            <a:ext cx="3108960" cy="1747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Onde você conta pro agente uma coisa que ele precisa saber em toda sessão?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046720" y="2148840"/>
            <a:ext cx="3566160" cy="329184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75320" y="23500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[SEMANA 4]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8275320" y="2697480"/>
            <a:ext cx="3108960" cy="749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Skill ensina. Tool faz.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8275320" y="3556254"/>
            <a:ext cx="3108960" cy="1747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skill carrega inteira no começo da sessão?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FIO CONDUTOR DA SEMANA</a:t>
            </a:r>
            <a:endParaRPr lang="en-US" sz="1100" dirty="0"/>
          </a:p>
        </p:txBody>
      </p:sp>
      <p:pic>
        <p:nvPicPr>
          <p:cNvPr id="3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09728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Pronto é o que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está escrito.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o critério de pronto só existe na sua cabeça, o agente escolhe um. Hoje vocês vão ver qual ele escolhe.</a:t>
            </a:r>
            <a:endParaRPr lang="en-US" sz="1800" dirty="0"/>
          </a:p>
        </p:txBody>
      </p:sp>
      <p:pic>
        <p:nvPicPr>
          <p:cNvPr id="7" name="Image 1" descr="/home/claude/deck/media/ref-wynne-example-mapping-carto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40230"/>
            <a:ext cx="4846320" cy="36347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foto: Matt Wynne, cucumber.io/blog/bdd/example-mapping-introduction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BLOCO 1 · O PROJETO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245766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224576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&lt;/O PROJETO&gt;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quiz ao vivo da PDA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148840"/>
            <a:ext cx="6675120" cy="384048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31520" y="230428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32688" y="230428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3856" y="230428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417320" y="2240280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tree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60604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demo-quiz-pda/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283464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|-- src/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306324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  |-- banco/perguntas.js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329184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  |      # a facilitadora escreve e publica o Quiz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352044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  |-- partida/sala.js      # Sala, PIN, apelido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374904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  |-- partida/rodada.js    # Rodada, Resposta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97764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  |-- partida/placar.js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420624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  `-- diagnostico/relatorio.js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777240" y="443484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         # o que a turma mais errou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77240" y="466344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|-- tests/     # node --test, zero dependência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777240" y="489204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`-- CLAUDE.md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589520" y="228600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58952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8065008" y="2267712"/>
            <a:ext cx="352044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Hoje: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Resposta certa vale 1 ponto.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7589520" y="3179064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589520" y="3179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8065008" y="3160776"/>
            <a:ext cx="352044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Pedido: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quem responde mais rápido ganha mais.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7589520" y="4072128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589520" y="4072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8065008" y="4053840"/>
            <a:ext cx="352044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Igual ao Kahoot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que a gente jogou na semana 4.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⚠ DEMO 1 · AO VIVO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543861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254386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&lt;/PEDIDO VAGO&gt;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Uma frase, nada mais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148840"/>
            <a:ext cx="6949440" cy="137160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31520" y="230428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32688" y="230428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3856" y="230428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417320" y="2240280"/>
            <a:ext cx="5943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606040"/>
            <a:ext cx="65836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cd demo-quiz-pda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2891790"/>
            <a:ext cx="65836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claude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6949440" cy="118872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90448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32688" y="390448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133856" y="390448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417320" y="3840480"/>
            <a:ext cx="5943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 Code · copia e cola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4206240"/>
            <a:ext cx="6583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adiciona pontuação por velocidade no quiz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7863840" y="2148840"/>
            <a:ext cx="3749040" cy="278892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092440" y="2148840"/>
            <a:ext cx="32918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Antes de rodar: o que vocês acham que ele vai fazer com uma Resposta que chega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depois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do tempo acabar?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O QUE VOLTOU · SAÍDA REAL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3140050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314005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&lt;/REGRA INVENTADA&gt;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Código limpo, regra inventada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pic>
        <p:nvPicPr>
          <p:cNvPr id="8" name="Image 1" descr="/home/claude/deck/media/gif-12-pedido-vago-real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602" y="2057400"/>
            <a:ext cx="9047747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saída real: Claude Code no demo-quiz-pda, 05/10 · _facilitadora/plano-b/pedido-vago/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COPIA E COLA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543861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254386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&lt;/DIAGNÓSTICO&gt;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Pergunte o que ele decidiu por você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148840"/>
            <a:ext cx="11091672" cy="219456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31520" y="230428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32688" y="230428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3856" y="230428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417320" y="2240280"/>
            <a:ext cx="10085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606040"/>
            <a:ext cx="107259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Não altere nenhum arquivo. Liste cada regra de negócio que você decidiu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2891790"/>
            <a:ext cx="107259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sem eu ter pedido: valores, limites, o que acontece fora do tempo,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3177540"/>
            <a:ext cx="107259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empates. Para cada uma, diga o arquivo, a linha e qual seria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3463290"/>
            <a:ext cx="107259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a alternativa.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4663440"/>
            <a:ext cx="11091672" cy="100584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77240" y="4663440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Você vai usar esse prompt no lab e no seu projeto. Ele não conserta nada: mostra o que foi decidido por você.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CLEAN CODE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543861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254386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&lt;/TRÊS LENTES&gt;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Nomeação, tamanho e responsabilidade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148840"/>
            <a:ext cx="6309360" cy="356616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31520" y="230428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32688" y="230428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3856" y="230428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417320" y="2240280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src/partida/rodada.js (gerado na demo)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606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export const PONTOS_BASE = 500;         // 1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28346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export const PONTOS_BONUS = 500;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30632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export function pontosPorVelocidade(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32918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t, limite) {                        // 2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35204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const restante = 1 -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3749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Math.min(Math.max(t, 0), limite) / limite;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9776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return PONTOS_BASE +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42062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Math.round(PONTOS_BONUS * restante);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777240" y="44348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77240" y="46634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export function registrarResposta(...) // 3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7132320" y="214884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132320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7607808" y="2130552"/>
            <a:ext cx="3977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Nomeação.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PONTOS_BONUS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é nome do agente ou da regra? O nome devia te levar até a frase da regra.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7132320" y="3118104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13232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7607808" y="3099816"/>
            <a:ext cx="3977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Tamanho de função.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Duas linhas, ótimo. Função curta esconde regra errada tão bem quanto função longa.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7132320" y="4087368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7132320" y="4087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7607808" y="4069080"/>
            <a:ext cx="3977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Responsabilidade única.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registrarResposta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registra, pontua e altera a Jogadora. Quem recusa a Resposta atrasada?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O PADRÃO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3438144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&lt;/ABSTRACTION BLOAT&gt;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Quando o repo é maior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pic>
        <p:nvPicPr>
          <p:cNvPr id="8" name="Image 1" descr="/home/claude/deck/media/gif-01-abstraction-bloat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75688"/>
            <a:ext cx="6949440" cy="330098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772400" y="2057400"/>
            <a:ext cx="3867912" cy="109728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8001000" y="2258568"/>
            <a:ext cx="34107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Abstraction Bloat: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camada que não decide nada, só repassa.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7772400" y="3246120"/>
            <a:ext cx="3867912" cy="109728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001000" y="3447288"/>
            <a:ext cx="34107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Mesmo padrão, outros nomes: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Clean Architecture Paradox, Abstraction Illusion.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7772400" y="4434840"/>
            <a:ext cx="3867912" cy="132588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001000" y="4636008"/>
            <a:ext cx="34107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Dado da GitClear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(623 milhões de mudanças, 2023–2026): blocos duplicados +81%, refatoração −70%.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5778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Nenhum dos três nomes é termo padronizado na literatura. O padrão é real; o nome é convenção.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gitclear.com/the_ai_code_quality_maintainability_gap · arxiv.org/html/2605.02741v1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CHECKLIST · STARTER/CHECKLIST-SINAIS-CODIGO-IA.MD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096719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20967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&lt;/6 SINAIS&gt;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que caçar no diff do agente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103120"/>
            <a:ext cx="3593592" cy="14630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30428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651760"/>
            <a:ext cx="3136392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Abstraction Bloat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112389"/>
            <a:ext cx="3136392" cy="31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Classe Deus, Miragem Modular, Camada de Passagem, nome genérico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297680" y="2103120"/>
            <a:ext cx="3593592" cy="14630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26280" y="230428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651760"/>
            <a:ext cx="3136392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Duplicação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3112389"/>
            <a:ext cx="3136392" cy="31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vez de reuso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46720" y="2103120"/>
            <a:ext cx="3593592" cy="14630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75320" y="230428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8275320" y="2651760"/>
            <a:ext cx="3136392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Erro mascarado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8275320" y="3112389"/>
            <a:ext cx="3136392" cy="31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catch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vazio, </a:t>
            </a:r>
            <a:pPr indent="0" marL="0">
              <a:buNone/>
            </a:pPr>
            <a:r>
              <a:rPr lang="en-US" sz="13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|| 0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48640" y="3703320"/>
            <a:ext cx="3593592" cy="14630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77240" y="390448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777240" y="4251960"/>
            <a:ext cx="3136392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API alucinada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777240" y="4712589"/>
            <a:ext cx="3136392" cy="31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biblioteca ou método que não existe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297680" y="3703320"/>
            <a:ext cx="3593592" cy="14630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526280" y="390448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4526280" y="4251960"/>
            <a:ext cx="3136392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Defensividade à toa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4526280" y="4712589"/>
            <a:ext cx="3136392" cy="31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pra caso que não existe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8046720" y="3703320"/>
            <a:ext cx="3593592" cy="14630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275320" y="390448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8275320" y="4251960"/>
            <a:ext cx="3136392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Fronteira dissolvida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8275320" y="4712589"/>
            <a:ext cx="3136392" cy="31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arquivo resolvendo dois contextos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77240" y="544068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Math.min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do slide 8 entra em qual? Em nenhum. Está certo como código e errado como regra. Checklist pega forma; regra só a spec pega.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CONTEXT ENGINEERING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94767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&lt;/POR QUÊ&gt;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Por que o agente decidiu sozinho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pic>
        <p:nvPicPr>
          <p:cNvPr id="8" name="Image 1" descr="/home/claude/deck/media/gif-04-mesa-de-trabalho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96262"/>
            <a:ext cx="6766560" cy="321411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589520" y="214884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589520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8065008" y="2130552"/>
            <a:ext cx="35204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Lacuna vira média.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que o prompt não diz, o modelo completa com o padrão mais comum. "Parecido com o Kahoot" é isso.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7589520" y="3325368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589520" y="3325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8065008" y="3307080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Pedido vago enche a mesa.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Sem saber onde mexer, ele lê mais arquivo. Mais token, menos atenção pra regra.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589520" y="426720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589520" y="4267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8065008" y="4248912"/>
            <a:ext cx="3520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Spec é contexto que você escolhe.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Glossário, critério e pasta certa entram; o resto fica fora.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semana 2: contexto é mesa de trabalho · GIF ilustrativo de proporção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BLOCO 2 · DDD ESTRATÉGICO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3140050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314005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&lt;/BOUNDED CONTEXT&gt;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Onde cada palavra tem um significado só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103120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/home/claude/deck/media/ref-fowler-bounded-con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00719"/>
            <a:ext cx="6035040" cy="373672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223760" y="219456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Bounded context: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pedaço do sistema onde cada palavra tem um significado só. A mesma palavra em outro pedaço pode significar outra coisa, e tudo bem.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7223760" y="4206240"/>
            <a:ext cx="4389120" cy="146304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452360" y="42062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Eric Evans cunhou em 2003. Fowler resume: um modelo único pro sistema inteiro deixa de ser viável quando o sistema cresce.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martinfowler.com/bliki/BoundedContext.html · imagem via fabriciorissetto.com/blog/ddd-bounded-context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ONDE GASTAR SPEC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543861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254386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&lt;/SUBDOMÍNIOS&gt;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Núcleo, suporte e genérico no quiz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103120"/>
            <a:ext cx="3593592" cy="393192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30428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[NÚCLEO]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651760"/>
            <a:ext cx="3136392" cy="392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Diagnóstico da Turma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154299"/>
            <a:ext cx="3136392" cy="274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3 perguntas que a turma mais errou, pra facilitadora voltar nelas. É o motivo de a PDA ter um quiz próprio.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Spec detalhada, cenário pra cada regra.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97680" y="2103120"/>
            <a:ext cx="3593592" cy="39319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26280" y="230428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[SUPORTE]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651760"/>
            <a:ext cx="3136392" cy="749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Partida ao vivo e Banco de Perguntas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3510534"/>
            <a:ext cx="3136392" cy="238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Precisam existir e funcionar bem, mas o Kahoot já resolve parecido.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Spec das regras que mudam ponto e tempo.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46720" y="2103120"/>
            <a:ext cx="3593592" cy="39319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75320" y="230428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[GENÉRICO]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8275320" y="2651760"/>
            <a:ext cx="3136392" cy="749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Login, PIN, QR code, hospedagem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8275320" y="3510534"/>
            <a:ext cx="3136392" cy="238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Todo sistema tem.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Biblioteca ou serviço pronto, spec de uma linha.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fullcycle.com.br/domain-driven-design (subdomínios num streaming estilo Netflix)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LINGUAGEM UBÍQUA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096719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20967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&lt;/RESPOSTA&gt;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Uma palavra, três significados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pic>
        <p:nvPicPr>
          <p:cNvPr id="8" name="Image 1" descr="/home/claude/deck/media/gif-02-resposta-tres-sentidos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497" y="2011680"/>
            <a:ext cx="7603958" cy="361188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48640" y="5669280"/>
            <a:ext cx="11091672" cy="64008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77240" y="5669280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Linguagem ubíqua: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mesmo vocabulário no código, no teste, no prompt e na conversa com quem pede a feature. Dentro de um contexto.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649224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martinfowler.com/bliki/UbiquitousLanguage.html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GLOSSÁRIO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245766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224576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&lt;/GLOSSÁRIO&gt;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vocabulário do quiz, por contexto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103120"/>
            <a:ext cx="3593592" cy="402336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30428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src/banco/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651760"/>
            <a:ext cx="3136392" cy="392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Banco de Perguntas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154299"/>
            <a:ext cx="3136392" cy="283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Quiz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(rascunho ou publicado)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Pergunta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Alternativa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(sempre 4)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Gabarito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sabe de tempo, pontos nem Jogadora.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97680" y="2103120"/>
            <a:ext cx="3593592" cy="402336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26280" y="230428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src/partida/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651760"/>
            <a:ext cx="3136392" cy="392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Partida ao vivo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3154299"/>
            <a:ext cx="3136392" cy="283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Sala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PIN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Jogadora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(apelido, não é aluna)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Rodada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Cronômetro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Resposta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(alternativa + 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Placar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Pódio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46720" y="2103120"/>
            <a:ext cx="3593592" cy="402336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75320" y="230428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src/diagnostico/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8275320" y="2651760"/>
            <a:ext cx="3136392" cy="392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Diagnóstico da Turma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8275320" y="3154299"/>
            <a:ext cx="3136392" cy="283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Taxa de acerto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Pergunta crítica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Só lê o resultado da Partida.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FRONTEIRA DE VERDADE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3140050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314005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&lt;/CÓPIA CONGELADA&gt;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 Rodada congela a Pergunta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103120"/>
            <a:ext cx="6766560" cy="402336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31520" y="225856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32688" y="225856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3856" y="225856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417320" y="2194560"/>
            <a:ext cx="5760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demo-quiz-pda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560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src/partida/rodada.js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2788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export function iniciarRodada(pergunta, limite = 20) {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3017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return { pergunta: structuredClone(pergunta),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32461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limite, respostas: [] };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3474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3931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tests/partida.test.js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160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test("a Rodada congela a Pergunta", () =&gt; {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43891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const rodada = iniciarRodada(p);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777240" y="4617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p.gabarito = 3;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7724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assert.equal(rodada.pergunta.gabarito, 0);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777240" y="5074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});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589520" y="2103120"/>
            <a:ext cx="4050792" cy="210312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818120" y="2103120"/>
            <a:ext cx="35935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Partida guarda uma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cópia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da Pergunta. Corrigir o gabarito no Banco durante a aula não muda a Rodada que está rolando.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7589520" y="44805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linha e um teste dizem onde um contexto termina.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CONTEXT MAP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500530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15005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&lt;/MAPA&gt;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Cada seta é um contrato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560320"/>
            <a:ext cx="3136392" cy="1188720"/>
          </a:xfrm>
          <a:prstGeom prst="rect">
            <a:avLst/>
          </a:prstGeom>
          <a:solidFill>
            <a:srgbClr val="3D1247"/>
          </a:solidFill>
          <a:ln w="25400">
            <a:solidFill>
              <a:srgbClr val="EDDC1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560320"/>
            <a:ext cx="3136392" cy="1188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Banco de Perguntas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4526280" y="2560320"/>
            <a:ext cx="3136392" cy="1188720"/>
          </a:xfrm>
          <a:prstGeom prst="rect">
            <a:avLst/>
          </a:prstGeom>
          <a:solidFill>
            <a:srgbClr val="EDDC11"/>
          </a:solidFill>
          <a:ln w="25400">
            <a:solidFill>
              <a:srgbClr val="EDDC1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26280" y="2560320"/>
            <a:ext cx="3136392" cy="1188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Partida ao vivo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503920" y="2560320"/>
            <a:ext cx="3136392" cy="1188720"/>
          </a:xfrm>
          <a:prstGeom prst="rect">
            <a:avLst/>
          </a:prstGeom>
          <a:solidFill>
            <a:srgbClr val="3D1247"/>
          </a:solidFill>
          <a:ln w="25400">
            <a:solidFill>
              <a:srgbClr val="EDDC1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503920" y="2560320"/>
            <a:ext cx="3136392" cy="1188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Diagnóstico da Turma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730752" y="3154680"/>
            <a:ext cx="749808" cy="0"/>
          </a:xfrm>
          <a:prstGeom prst="line">
            <a:avLst/>
          </a:prstGeom>
          <a:noFill/>
          <a:ln w="38100">
            <a:solidFill>
              <a:srgbClr val="EDDC11"/>
            </a:solidFill>
            <a:prstDash val="solid"/>
            <a:tailEnd type="triangle"/>
          </a:ln>
        </p:spPr>
      </p:sp>
      <p:sp>
        <p:nvSpPr>
          <p:cNvPr id="15" name="Text 11"/>
          <p:cNvSpPr txBox="1"/>
          <p:nvPr/>
        </p:nvSpPr>
        <p:spPr>
          <a:xfrm>
            <a:off x="3410712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publica Quiz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708392" y="3154680"/>
            <a:ext cx="749808" cy="0"/>
          </a:xfrm>
          <a:prstGeom prst="line">
            <a:avLst/>
          </a:prstGeom>
          <a:noFill/>
          <a:ln w="38100">
            <a:solidFill>
              <a:srgbClr val="EDDC11"/>
            </a:solidFill>
            <a:prstDash val="solid"/>
            <a:tailEnd type="triangle"/>
          </a:ln>
        </p:spPr>
      </p:sp>
      <p:sp>
        <p:nvSpPr>
          <p:cNvPr id="17" name="Text 13"/>
          <p:cNvSpPr txBox="1"/>
          <p:nvPr/>
        </p:nvSpPr>
        <p:spPr>
          <a:xfrm>
            <a:off x="7388352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entrega Respostas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26280" y="4251960"/>
            <a:ext cx="3136392" cy="822960"/>
          </a:xfrm>
          <a:prstGeom prst="rect">
            <a:avLst/>
          </a:prstGeom>
          <a:solidFill>
            <a:srgbClr val="2A042E"/>
          </a:solidFill>
          <a:ln w="19050">
            <a:solidFill>
              <a:srgbClr val="8E6A95"/>
            </a:solidFill>
            <a:prstDash val="dash"/>
          </a:ln>
        </p:spPr>
      </p:sp>
      <p:sp>
        <p:nvSpPr>
          <p:cNvPr id="19" name="Text 15"/>
          <p:cNvSpPr txBox="1"/>
          <p:nvPr/>
        </p:nvSpPr>
        <p:spPr>
          <a:xfrm>
            <a:off x="4526280" y="4251960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Acesso: PIN, QR code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(genérico, biblioteca)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094476" y="3749040"/>
            <a:ext cx="0" cy="502920"/>
          </a:xfrm>
          <a:prstGeom prst="line">
            <a:avLst/>
          </a:prstGeom>
          <a:noFill/>
          <a:ln w="19050">
            <a:solidFill>
              <a:srgbClr val="8E6A95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77240" y="544068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Mudar o que atravessa a seta é mudar dois contextos. Isso merece uma pergunta antes.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A CERCA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649578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16495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&lt;/CERCA&gt;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Bounded context como cerca pro agente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pic>
        <p:nvPicPr>
          <p:cNvPr id="8" name="Image 1" descr="/home/claude/deck/media/gif-03-agente-vazando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602" y="2011680"/>
            <a:ext cx="9047747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ATÉ VOCÊ CONTAR PRA ELA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3438144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&lt;/ONDE A CERCA MORA&gt;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openspec/config.yaml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103120"/>
            <a:ext cx="7589520" cy="411480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31520" y="225856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32688" y="225856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3856" y="225856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417320" y="2194560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openspec/config.yaml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56032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context: |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278892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Language: pt-BR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301752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Bounded contexts (um por pasta):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324612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- Banco de Perguntas (src/banco/): Quiz, Pergunta,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347472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Alternativa, Gabarito.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370332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- Partida ao vivo (src/partida/): Sala, PIN, Jogadora,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93192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Rodada, Cronômetro, Resposta, Placar, Pódio.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416052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- Diagnóstico da Turma (src/diagnostico/): Taxa de acerto.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777240" y="438912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Regras: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77240" y="461772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- Uma change mexe em um bounded context só.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777240" y="484632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Se precisar de outro, pare e pergunte.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777240" y="507492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- Não crie Service, Manager, Factory, Provider, Helper, Utils.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8412480" y="21945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mesmo texto vai no </a:t>
            </a:r>
            <a:pPr algn="l" indent="0" marL="0">
              <a:buNone/>
            </a:pPr>
            <a:r>
              <a:rPr lang="en-US" sz="16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CLAUDE.md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pro TLC e pra qualquer sessão.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8412480" y="3749040"/>
            <a:ext cx="3227832" cy="137160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641080" y="3749040"/>
            <a:ext cx="2770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Semana 3 continua valendo: o agente só sabe o que você escreveu.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MÃO NA MASSA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LAB 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Glossário e fronteira do seu projeto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⏱  15 min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GLOSSARIO.md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394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Leia 5 minutos, escreva 10. O artigo é exemplo, o projeto é o seu.</a:t>
            </a:r>
            <a:endParaRPr lang="en-US" sz="1200" dirty="0"/>
          </a:p>
        </p:txBody>
      </p:sp>
      <p:pic>
        <p:nvPicPr>
          <p:cNvPr id="9" name="Image 0" descr="/home/claude/deck/star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411480"/>
            <a:ext cx="502920" cy="502920"/>
          </a:xfrm>
          <a:prstGeom prst="rect">
            <a:avLst/>
          </a:prstGeom>
        </p:spPr>
      </p:pic>
      <p:pic>
        <p:nvPicPr>
          <p:cNvPr id="11" name="Image 1" descr="/home/claude/deck/media/gif-02-resposta-tres-sentidos-ultim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526" y="548640"/>
            <a:ext cx="7218947" cy="34290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9120" y="429768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389120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4864608" y="4279392"/>
            <a:ext cx="6720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Leia um artigo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(5 min), escolhido pelo último dígito do seu número na chamada.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389120" y="4974336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389120" y="4974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864608" y="4956048"/>
            <a:ext cx="67208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Rode o prompt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que levanta os substantivos do seu código.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389120" y="5477256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389120" y="5477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864608" y="5458968"/>
            <a:ext cx="6720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Escreva o GLOSSARIO.md: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2 contextos, 3 termos cada, uma palavra que muda de sentido.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LEITURA · ÚLTIMO DÍGITO DO SEU NÚMERO NA CHAMADA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94767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&lt;/LEIA UM&gt;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 minutos, um artigo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103120"/>
            <a:ext cx="2679192" cy="411480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85800" y="2240280"/>
            <a:ext cx="2404872" cy="128016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2240280"/>
            <a:ext cx="2404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0 a 2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3657600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final 0 a 2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3931920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Locadora de veículos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31520" y="4617720"/>
            <a:ext cx="23134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Douglas Alonso, DDD na Prática parte 2. Leia "Linguagem ubíqua" e por que Financeiro não é um contexto só.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58521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douglasalonso.medium.com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355848" y="2103120"/>
            <a:ext cx="2679192" cy="411480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93008" y="2240280"/>
            <a:ext cx="240487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1" descr="/home/claude/deck/media/ref-fowler-bounded-con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515" y="2286000"/>
            <a:ext cx="1919857" cy="11887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538728" y="3657600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final 3 e 4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3538728" y="3931920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Produto em Vendas e em Suporte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3538728" y="4617720"/>
            <a:ext cx="23134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Fabrício Rissetto, Bounded Context. Curto, 3 diagramas.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3538728" y="58521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fabriciorissetto.com/blog/ddd-bounded-context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6163056" y="2103120"/>
            <a:ext cx="2679192" cy="411480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300216" y="2240280"/>
            <a:ext cx="240487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2" descr="/home/claude/deck/media/ref-treinaweb-event-storming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288742"/>
            <a:ext cx="2313432" cy="118323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345936" y="3657600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final 5 a 7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6345936" y="3931920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Post-its na parede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6345936" y="4617720"/>
            <a:ext cx="23134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TreinaWeb, O que é o Event Storming: a legenda das cores. Extra: fotos do workshop da Involves.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6345936" y="58521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treinaweb.com.br/blog/o-que-e-o-event-storming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8970264" y="2103120"/>
            <a:ext cx="2679192" cy="411480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107424" y="2240280"/>
            <a:ext cx="2404872" cy="128016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9107424" y="2240280"/>
            <a:ext cx="2404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8 e 9</a:t>
            </a:r>
            <a:endParaRPr lang="en-US" sz="3000" dirty="0"/>
          </a:p>
        </p:txBody>
      </p:sp>
      <p:sp>
        <p:nvSpPr>
          <p:cNvPr id="32" name="Text 26"/>
          <p:cNvSpPr txBox="1"/>
          <p:nvPr/>
        </p:nvSpPr>
        <p:spPr>
          <a:xfrm>
            <a:off x="9153144" y="3657600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final 8 e 9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9153144" y="3931920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Núcleo, suporte e genérico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9153144" y="4617720"/>
            <a:ext cx="23134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Cycle, O que é DDD. Leia a parte de design estratégico (streaming estilo Netflix).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9153144" y="58521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fullcycle.com.br/domain-driven-design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COPIA E COLA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94767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&lt;/ESCREVA&gt;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10 minutos: o seu glossário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103120"/>
            <a:ext cx="5394960" cy="324612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31520" y="225856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32688" y="225856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3856" y="225856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417320" y="2194560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560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Não altere nenhum arquivo. Leia o código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2788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do projeto e liste os substantivos de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3017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domínio que aparecem em nomes de pastas,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32461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arquivos, funções e variáveis. Para cada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34747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um, diga em quais arquivos aparece. Não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3703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sugira nomes novos e não explique o que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931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eles significam.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217920" y="2103120"/>
            <a:ext cx="5422392" cy="324612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00800" y="225856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601968" y="225856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803136" y="225856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086600" y="2194560"/>
            <a:ext cx="4416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GLOSSARIO.md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6446520" y="2560320"/>
            <a:ext cx="5056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Glossário: &lt;projeto&gt;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6446520" y="2788920"/>
            <a:ext cx="5056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## Contexto 1: &lt;nome&gt; (src/&lt;pasta&gt;/)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6446520" y="3017520"/>
            <a:ext cx="5056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 **&lt;Termo&gt;**: &lt;o que significa AQUI&gt;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6446520" y="3246120"/>
            <a:ext cx="5056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## Contexto 2: &lt;nome&gt; (src/&lt;pasta&gt;/)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6446520" y="3474720"/>
            <a:ext cx="5056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 **&lt;Termo&gt;**: &lt;o que significa AQUI&gt;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6446520" y="3703320"/>
            <a:ext cx="5056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## Palavra que muda de sentido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6446520" y="3931920"/>
            <a:ext cx="5056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 **&lt;Termo&gt;**: no 1 é ___; no 2 é ___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6446520" y="4160520"/>
            <a:ext cx="5056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## Núcleo do meu projeto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548640" y="5532120"/>
            <a:ext cx="11091672" cy="77724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77240" y="553212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Pronto quando: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2 contextos com pasta, 3 termos cada, e </a:t>
            </a:r>
            <a:pPr indent="0" marL="0">
              <a:buNone/>
            </a:pPr>
            <a:r>
              <a:rPr lang="en-US" sz="14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palavra que muda de sentido entre eles. O agente levanta os nomes; o significado é você quem escreve.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BLOCO 3 · PRONTO É O QUE ESTÁ ESCRITO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3587191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358719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&lt;/CRITÉRIO DE ACEITE&gt;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 definição de pronto, escrita antes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pic>
        <p:nvPicPr>
          <p:cNvPr id="8" name="Image 1" descr="/home/claude/deck/media/ref-wynne-example-mapping-mes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98126"/>
            <a:ext cx="6035040" cy="403334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949440" y="21945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Critério de aceite: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condição que precisa ser verdade pra feature contar como pronta.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6949440" y="356616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949440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7424928" y="3547872"/>
            <a:ext cx="41605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Escrito antes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do código.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949440" y="411480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94944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7424928" y="4096512"/>
            <a:ext cx="41605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Testável: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sim ou não, sem "melhor" nem "rápido".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949440" y="4837176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949440" y="4837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7424928" y="4818888"/>
            <a:ext cx="41605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 língua do glossário.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imagem: Matt Wynne, cucumber.io · leitura: Lílian Borba, critérios de aceitação (medium.com/@lilianborbadeoliveira)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EXAMPLE MAPPING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94767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&lt;/4 CORES&gt;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História, regra, exemplo, pergunta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pic>
        <p:nvPicPr>
          <p:cNvPr id="8" name="Image 1" descr="/home/claude/deck/media/ref-wynne-example-mapping-exempl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83" y="2103120"/>
            <a:ext cx="3533913" cy="2194560"/>
          </a:xfrm>
          <a:prstGeom prst="rect">
            <a:avLst/>
          </a:prstGeom>
        </p:spPr>
      </p:pic>
      <p:pic>
        <p:nvPicPr>
          <p:cNvPr id="9" name="Image 2" descr="/home/claude/deck/media/ref-wynne-example-mapping-pergunt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10" y="4023360"/>
            <a:ext cx="3305060" cy="219456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4480560" y="2103120"/>
            <a:ext cx="457200" cy="868680"/>
          </a:xfrm>
          <a:prstGeom prst="rect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5120640" y="210312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Amarelo: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história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4480560" y="3108960"/>
            <a:ext cx="457200" cy="868680"/>
          </a:xfrm>
          <a:prstGeom prst="rect">
            <a:avLst/>
          </a:prstGeom>
          <a:solidFill>
            <a:srgbClr val="A9D4FF"/>
          </a:solidFill>
          <a:ln w="12700">
            <a:solidFill>
              <a:srgbClr val="A9D4FF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5120640" y="310896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Azul: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cada regra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4480560" y="4114800"/>
            <a:ext cx="457200" cy="868680"/>
          </a:xfrm>
          <a:prstGeom prst="rect">
            <a:avLst/>
          </a:prstGeom>
          <a:solidFill>
            <a:srgbClr val="B8F2A0"/>
          </a:solidFill>
          <a:ln w="12700">
            <a:solidFill>
              <a:srgbClr val="B8F2A0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5120640" y="411480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Verde: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exemplos concretos de cada regra: "a Jogadora respondeu certo aos 10 s"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4480560" y="5120640"/>
            <a:ext cx="457200" cy="868680"/>
          </a:xfrm>
          <a:prstGeom prst="rect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120640" y="512064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Rosa: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que ninguém sabe responder ainda. Pergunta rosa não vai pro agente decidir.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fotos: Matt Wynne, cucumber.io/blog/bdd/example-mapping-introduction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NO QUIZ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3140050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314005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&lt;/EXAMPLE MAPPING&gt;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 pontuação em cartões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pic>
        <p:nvPicPr>
          <p:cNvPr id="8" name="Image 1" descr="/home/claude/deck/media/gif-05-example-mapping-quiz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602" y="2011680"/>
            <a:ext cx="9047747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EXEMPLOS VIRAM TESTE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94767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&lt;/A REGRA&gt;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Cada número é um cenário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pic>
        <p:nvPicPr>
          <p:cNvPr id="8" name="Image 1" descr="/home/claude/deck/media/gif-06-cronometro-pontos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371" y="2011680"/>
            <a:ext cx="7700211" cy="36576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48640" y="5715000"/>
            <a:ext cx="11091672" cy="59436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77240" y="571500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round(1000 - 500 * t / limite)</a:t>
            </a:r>
            <a:pPr indent="0" marL="0">
              <a:buNone/>
            </a:pPr>
            <a:r>
              <a:rPr lang="en-US" sz="15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 ·   0 s = 1000   ·   10 s = 750   ·   20 s = 500   ·   20,3 s = recusada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BDD · COPIA E COLA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94767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&lt;/GHERKIN&gt;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Dado, Quando, Então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057400"/>
            <a:ext cx="7498080" cy="434340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31520" y="221284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32688" y="221284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3856" y="221284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417320" y="2148840"/>
            <a:ext cx="6492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pontuacao.feature  (completo em _facilitadora/p2-openspec.txt)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514600"/>
            <a:ext cx="71323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language: pt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2733675"/>
            <a:ext cx="71323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Funcionalidade: Pontuação por velocidade na Partida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2952750"/>
            <a:ext cx="71323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Cenário: Resposta certa no primeiro segundo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3171825"/>
            <a:ext cx="71323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Dado uma Rodada com Cronômetro de 20 segundos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3390900"/>
            <a:ext cx="71323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Quando a Jogadora envia a Resposta certa aos 0 segundos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3609975"/>
            <a:ext cx="71323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Então a Partida soma 1000 pontos ao Placar dela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829050"/>
            <a:ext cx="71323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Cenário: Resposta certa na metade do tempo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4048125"/>
            <a:ext cx="71323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... aos 10 segundos  -&gt;  soma 750 pontos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777240" y="4267200"/>
            <a:ext cx="71323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Cenário: Resposta errada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777240" y="4486275"/>
            <a:ext cx="71323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... uma Resposta errada  -&gt;  soma 0 pontos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777240" y="4705350"/>
            <a:ext cx="71323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Cenário: Resposta depois do tempo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777240" y="4924425"/>
            <a:ext cx="71323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Quando a Resposta chega aos 20,3 segundos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777240" y="5143500"/>
            <a:ext cx="71323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Então a Partida recusa a Resposta e soma 0 pontos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8321040" y="214884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321040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8796528" y="2130552"/>
            <a:ext cx="28163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Dado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estado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8321040" y="278892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8321040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8796528" y="2770632"/>
            <a:ext cx="28163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Quando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ação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8321040" y="342900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832104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8796528" y="3410712"/>
            <a:ext cx="2816352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Então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resultado que dá pra conferir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8321040" y="4206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Todo substantivo com inicial maiúscula está no glossário.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548640" y="649224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dgosantos89.github.io/Gherkin-p1 (Gherkin em português, com exemplo ruim e corrigido)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COPIA E COLA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543861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254386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&lt;/CARTÃO ROSA&gt;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agente procura buraco, você responde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103120"/>
            <a:ext cx="7315200" cy="292608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31520" y="225856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32688" y="225856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3856" y="225856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417320" y="2194560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560320"/>
            <a:ext cx="69494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Leia os cenários abaixo. Não escreva cenários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2807970"/>
            <a:ext cx="69494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novos e não escreva código.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3055620"/>
            <a:ext cx="69494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Liste as perguntas que um dev faria antes de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3303270"/>
            <a:ext cx="69494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implementar: casos não cobertos, palavras que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3550920"/>
            <a:ext cx="69494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podem ser lidas de dois jeitos, números que faltam.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3798570"/>
            <a:ext cx="69494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046220"/>
            <a:ext cx="69494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&lt;cole aqui seus cenários&gt;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183880" y="2103120"/>
            <a:ext cx="3456432" cy="2926080"/>
          </a:xfrm>
          <a:prstGeom prst="rect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183880" y="2103120"/>
            <a:ext cx="3456432" cy="292608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 se der empate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 Pódio?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548640" y="5303520"/>
            <a:ext cx="11091672" cy="86868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77240" y="530352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perguntas viram cartão rosa. Quem responde é quem conhece o negócio.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TRÊS DIALETOS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096719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20967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&lt;/FORMATOS&gt;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mesmo critério, três ferramentas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pic>
        <p:nvPicPr>
          <p:cNvPr id="8" name="Image 1" descr="/home/claude/deck/media/gif-07-tres-formatos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6252"/>
            <a:ext cx="7680960" cy="36484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503920" y="2103120"/>
            <a:ext cx="31363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OpenSpec: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SHALL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+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WHEN/THEN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TLC: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EARS (Easy Approach to Requirements Syntax: requisito em 5 moldes fixos).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Spec Kit: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Given/When/Then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Quem sabe escrever o cenário à mão lê os três.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CONTEXT ENGINEERING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3289097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32890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&lt;/POR QUE FUNCIONA&gt;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Spec em arquivo, explicada pelas semanas 2, 3 e 4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910328" y="3429000"/>
            <a:ext cx="2377440" cy="100584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910328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spec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548640" y="2057400"/>
            <a:ext cx="4023360" cy="16916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2258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SEMANA 2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26060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Glossário: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nome igual no prompt, no código e no teste deixa o agente achar o arquivo certo com busca, sem ler o repo inteiro.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616952" y="2057400"/>
            <a:ext cx="4023360" cy="16916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845552" y="2258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SEMANA 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845552" y="26060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Bounded context: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diz quais pastas entram na mesa.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343400"/>
            <a:ext cx="4023360" cy="16916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77240" y="4544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SEMANA 3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48920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Arquivo, não conversa: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spec sobrevive ao </a:t>
            </a:r>
            <a:pPr indent="0" marL="0">
              <a:buNone/>
            </a:pPr>
            <a:r>
              <a:rPr lang="en-US" sz="13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/clear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à sessão de amanhã.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616952" y="4343400"/>
            <a:ext cx="4023360" cy="16916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845552" y="4544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SEMANA 4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7845552" y="48920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Skill: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OpenSpec e TLC instalam skills em </a:t>
            </a:r>
            <a:pPr indent="0" marL="0">
              <a:buNone/>
            </a:pPr>
            <a:r>
              <a:rPr lang="en-US" sz="13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.claude/skills/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que só carregam inteiras quando você chama.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572000" y="3154680"/>
            <a:ext cx="338328" cy="320040"/>
          </a:xfrm>
          <a:prstGeom prst="line">
            <a:avLst/>
          </a:prstGeom>
          <a:noFill/>
          <a:ln w="25400">
            <a:solidFill>
              <a:srgbClr val="EDDC1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 flipH="1">
            <a:off x="7287768" y="3154680"/>
            <a:ext cx="329184" cy="320040"/>
          </a:xfrm>
          <a:prstGeom prst="line">
            <a:avLst/>
          </a:prstGeom>
          <a:noFill/>
          <a:ln w="25400">
            <a:solidFill>
              <a:srgbClr val="EDDC11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 flipV="1">
            <a:off x="4572000" y="4434840"/>
            <a:ext cx="338328" cy="320040"/>
          </a:xfrm>
          <a:prstGeom prst="line">
            <a:avLst/>
          </a:prstGeom>
          <a:noFill/>
          <a:ln w="25400">
            <a:solidFill>
              <a:srgbClr val="EDDC11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 flipH="1" flipV="1">
            <a:off x="7287768" y="4434840"/>
            <a:ext cx="329184" cy="320040"/>
          </a:xfrm>
          <a:prstGeom prst="line">
            <a:avLst/>
          </a:prstGeom>
          <a:noFill/>
          <a:ln w="25400">
            <a:solidFill>
              <a:srgbClr val="EDDC11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o TLC tem um teto escrito na skill: spec até ~5 mil tokens, contexto abaixo de 40 mil (20% da janela) · references/context-limits.md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UM POUCO DE CRÍTICA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841955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28419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&lt;/NÍVEIS DE SDD&gt;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Spec-first, spec-anchored, spec-as-source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057400"/>
            <a:ext cx="6217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/home/claude/deck/media/ref-bockeler-sdd-nive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82999"/>
            <a:ext cx="6035040" cy="331496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040880" y="210312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04088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7516368" y="2084832"/>
            <a:ext cx="406908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Spec-first: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escreve a spec, gera o código, a spec fica pra trás.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040880" y="2740152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040880" y="2740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7516368" y="2721864"/>
            <a:ext cx="406908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Spec-anchored: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spec continua valendo depois da feature. O </a:t>
            </a:r>
            <a:pPr indent="0" marL="0">
              <a:buNone/>
            </a:pPr>
            <a:r>
              <a:rPr lang="en-US" sz="13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archive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do OpenSpec junta a change em </a:t>
            </a:r>
            <a:pPr indent="0" marL="0">
              <a:buNone/>
            </a:pPr>
            <a:r>
              <a:rPr lang="en-US" sz="13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openspec/specs/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040880" y="3595116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040880" y="35951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7516368" y="3576828"/>
            <a:ext cx="406908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Spec-as-source: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humano só edita spec. Model-driven development tentou isso e não pegou.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5760720"/>
            <a:ext cx="11091672" cy="59436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77240" y="576072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Custo:</a:t>
            </a:r>
            <a:pPr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markdown demais pra revisar. A Böckeler usou o spec-kit numa feature pequena e comparou com "usar uma marreta pra quebrar uma noz".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9224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Birgitta Böckeler, martinfowler.com/articles/exploring-gen-ai/sdd-3-tools.html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⚠ DEMO 2 · OPENSPEC · COPIA E COLA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096719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20967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&lt;/OPENSPEC&gt;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Instalar e iniciar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103120"/>
            <a:ext cx="7589520" cy="402336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31520" y="225856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32688" y="225856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3856" y="225856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417320" y="2194560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terminal · saída real, OpenSpec 1.14.0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560320"/>
            <a:ext cx="72237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npm install -g @fission-ai/openspec@latest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2807970"/>
            <a:ext cx="72237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cd demo-quiz-pda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3055620"/>
            <a:ext cx="72237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openspec init --tools claude --language pt-BR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3550920"/>
            <a:ext cx="72237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√ Setup complete for Claude Code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3798570"/>
            <a:ext cx="72237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skills and 6 commands in .claude/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4046220"/>
            <a:ext cx="72237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Config: openspec/config.yaml (schema: spec-driven)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293870"/>
            <a:ext cx="72237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Getting started: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4541520"/>
            <a:ext cx="72237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Start your first change: /opsx:propose "your idea"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8412480" y="219456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41248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8887968" y="2176272"/>
            <a:ext cx="2724912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Node 20.19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ou mais novo.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8412480" y="278892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412480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8887968" y="2770632"/>
            <a:ext cx="2724912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Outros agentes: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troque </a:t>
            </a:r>
            <a:pPr indent="0" marL="0">
              <a:buNone/>
            </a:pPr>
            <a:r>
              <a:rPr lang="en-US" sz="13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em </a:t>
            </a:r>
            <a:pPr indent="0" marL="0">
              <a:buNone/>
            </a:pPr>
            <a:r>
              <a:rPr lang="en-US" sz="13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--tools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(cursor, codex, github-copilot...).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8412480" y="3707892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412480" y="37078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8887968" y="3689604"/>
            <a:ext cx="272491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Telemetria: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OPENSPEC_TELEMETRY=0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desliga.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github.com/Fission-AI/OpenSpec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CONTEXT ENGINEERING NA PRÁTICA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3438144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&lt;/A MESA POR DENTRO&gt;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glossário entra no prompt do agente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057400"/>
            <a:ext cx="5760720" cy="425196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31520" y="221284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32688" y="221284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3856" y="221284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417320" y="21488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514600"/>
            <a:ext cx="53949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cole o glossário embaixo de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2724150"/>
            <a:ext cx="53949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"context: |" em openspec/config.yaml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3143250"/>
            <a:ext cx="53949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openspec new change placar-mais-legal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3352800"/>
            <a:ext cx="53949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mkdir -p openspec/changes/placar-mais-legal/\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3562350"/>
            <a:ext cx="53949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specs/partida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3771900"/>
            <a:ext cx="53949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printf '## ADDED Requirements\n\n### Requi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981450"/>
            <a:ext cx="53949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rement: Placar melhor\nO placar deve ficar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4191000"/>
            <a:ext cx="53949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mais legal e mais rápido.\n' &gt; openspec/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777240" y="4400550"/>
            <a:ext cx="53949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changes/placar-mais-legal/specs/partida/spec.md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777240" y="4819650"/>
            <a:ext cx="53949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openspec instructions proposal \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777240" y="5029200"/>
            <a:ext cx="53949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--change placar-mais-legal | head -30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492240" y="2057400"/>
            <a:ext cx="5148072" cy="329184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675120" y="221284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876288" y="221284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077456" y="221284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360920" y="2148840"/>
            <a:ext cx="4142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saída real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6720840" y="2514600"/>
            <a:ext cx="47823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&lt;project_context&gt;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6720840" y="2724150"/>
            <a:ext cx="47823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Language: pt-BR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6720840" y="2933700"/>
            <a:ext cx="47823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...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6720840" y="3143250"/>
            <a:ext cx="47823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Bounded contexts (um por pasta):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6720840" y="3352800"/>
            <a:ext cx="47823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 Banco de Perguntas (src/banco/)...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6720840" y="3562350"/>
            <a:ext cx="47823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 Partida ao vivo (src/partida/)...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6720840" y="3771900"/>
            <a:ext cx="47823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...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6720840" y="3981450"/>
            <a:ext cx="47823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 Uma change mexe em um bounded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6720840" y="4191000"/>
            <a:ext cx="47823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context só. Se precisar de outro,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6720840" y="4400550"/>
            <a:ext cx="47823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pare e pergunte.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6720840" y="4610100"/>
            <a:ext cx="47823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&lt;/project_context&gt;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6492240" y="5486400"/>
            <a:ext cx="5148072" cy="82296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720840" y="5486400"/>
            <a:ext cx="4690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 isso que o agente recebe antes de escrever cada artefato.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COPIA E COLA · NO CLAUDE CODE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692908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26929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&lt;/OPSX:PROPOSE&gt;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Regra, cenários e cerca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057400"/>
            <a:ext cx="8229600" cy="425196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31520" y="221284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32688" y="221284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3856" y="221284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417320" y="214884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5146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/opsx:propose pontuacao-por-velocidade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29718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Na Partida ao vivo, uma Resposta certa vale entre 500 e 1000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32004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pontos, conforme a velocidade: round(1000 - 500 * t / limite).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34290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Resposta errada vale 0. Resposta que chega depois do fim do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36576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Cronômetro é recusada.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41148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Use estes cenários como critério de aceite. Não invente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3434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cenário novo sem me perguntar: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45720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&lt;cole os 4 cenários do Gherkin&gt;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777240" y="50292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Mexa só em src/partida/. Banco de Perguntas e Diagnóstico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77240" y="52578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da Turma ficam fora do escopo.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9052560" y="219456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05256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9528048" y="2176272"/>
            <a:ext cx="2084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regra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em uma frase, com números.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9052560" y="3054096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052560" y="3054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9528048" y="3035808"/>
            <a:ext cx="2084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cenários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como critério.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9052560" y="3913632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052560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9528048" y="3895344"/>
            <a:ext cx="20848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cerca: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uma pasta só.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SAÍDA REAL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692908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26929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&lt;/O QUE VOLTOU&gt;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 arquivos e uma pergunta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057400"/>
            <a:ext cx="4937760" cy="274320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31520" y="221284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32688" y="221284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3856" y="221284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417320" y="214884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tree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514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openspec/changes/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2743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pontuacao-por-velocidade/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2971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|-- proposal.md   # escopo: Partida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3200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|-- specs/.../spec.md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3429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     # 3 requisitos, 4 cenários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3657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|-- design.md     # sem módulo novo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886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`-- tasks.md      # 3 tarefas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715000" y="2057400"/>
            <a:ext cx="5925312" cy="274320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897880" y="221284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99048" y="221284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300216" y="221284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583680" y="2148840"/>
            <a:ext cx="4919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resposta do agente (trecho)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5943600" y="2514600"/>
            <a:ext cx="5559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Decisões minhas que valem conferir: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5943600" y="2743200"/>
            <a:ext cx="5559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 t == limite: conta como dentro do tempo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5943600" y="2971800"/>
            <a:ext cx="5559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e vale 500. Só t &gt; limite é recusada.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5943600" y="3200400"/>
            <a:ext cx="5559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 Resposta recusada: não entra em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5943600" y="3429000"/>
            <a:ext cx="5559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rodada.respostas.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5943600" y="3657600"/>
            <a:ext cx="5559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que preciso de você: você pediu só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5943600" y="3886200"/>
            <a:ext cx="5559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src/partida/, mas os testes ficam em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5943600" y="4114800"/>
            <a:ext cx="5559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tests/partida.test.js.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548640" y="5029200"/>
            <a:ext cx="11091672" cy="109728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77240" y="5029200"/>
            <a:ext cx="10634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Compara com o slide 8: lá ele decidiu e não contou. Aqui ele decidiu pouco,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contou o que decidiu e perguntou sobre a cerca.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⚠ QUEBRA DE PROPÓSITO · PRONTO É O QUE ESTÁ ESCRITO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3438144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&lt;/OPENSPEC VALIDATE&gt;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Spec vaga não passa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pic>
        <p:nvPicPr>
          <p:cNvPr id="8" name="Image 1" descr="/home/claude/deck/media/gif-10-openspec-validate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8538"/>
            <a:ext cx="7863840" cy="373532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641080" y="2057400"/>
            <a:ext cx="2999232" cy="146304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8823960" y="221284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025128" y="221284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226296" y="221284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509760" y="2148840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copia e cola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8869680" y="2514600"/>
            <a:ext cx="26334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openspec validate \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8869680" y="2714625"/>
            <a:ext cx="26334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placar-mais-legal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8869680" y="2914650"/>
            <a:ext cx="26334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openspec validate \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8869680" y="3114675"/>
            <a:ext cx="26334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pontuacao-por-velocidade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8641080" y="3749040"/>
            <a:ext cx="29992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ferramenta checa a forma. Se a regra está certa, quem checa é você.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saída real, OpenSpec 1.14.0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COPIA E COLA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3140050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314005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&lt;/APPLY E ARCHIVE&gt;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 change pra spec que fica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pic>
        <p:nvPicPr>
          <p:cNvPr id="8" name="Image 1" descr="/home/claude/deck/media/gif-08-openspec-fluxo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29968"/>
            <a:ext cx="6949440" cy="330098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772400" y="2057400"/>
            <a:ext cx="3867912" cy="160020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7955280" y="221284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8156448" y="221284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357616" y="221284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641080" y="2148840"/>
            <a:ext cx="2862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copia e cola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8001000" y="2514600"/>
            <a:ext cx="3502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/opsx:apply pontuacao-por-velocidade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8001000" y="2714625"/>
            <a:ext cx="3502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npm test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8001000" y="2914650"/>
            <a:ext cx="3502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openspec archive \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8001000" y="3114675"/>
            <a:ext cx="3502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pontuacao-por-velocidade -y</a:t>
            </a:r>
            <a:endParaRPr lang="en-US" sz="1050" dirty="0"/>
          </a:p>
        </p:txBody>
      </p:sp>
      <p:pic>
        <p:nvPicPr>
          <p:cNvPr id="18" name="Image 2" descr="/home/claude/deck/media/ref-openspec-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323" y="3794760"/>
            <a:ext cx="2394065" cy="21945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8640" y="55321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Depois do archive, a spec vai pra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openspec/specs/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vira a referência da Partida.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saída real: 3/3 tasks, 8 testes passando · imagem: openspec view, github.com/Fission-AI/OpenSpec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⚠ DEMO 3 · TLC · COPIA E COLA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3140050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314005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&lt;/TLC SPEC-DRIVEN&gt;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Uma skill que escolhe o tamanho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057400"/>
            <a:ext cx="6035040" cy="105156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31520" y="221284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32688" y="221284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3856" y="221284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417320" y="214884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514600"/>
            <a:ext cx="566928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npx @tech-leads-club/agent-skills install \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2733675"/>
            <a:ext cx="566928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-s tlc-spec-driven -a claude-code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246120"/>
            <a:ext cx="6035040" cy="306324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40156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32688" y="340156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133856" y="340156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417320" y="333756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3703320"/>
            <a:ext cx="566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Use a skill tlc-spec-driven para especificar a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777240" y="3912870"/>
            <a:ext cx="566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feature "Pódio no fim da Partida": quando a última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777240" y="4122420"/>
            <a:ext cx="566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Rodada termina, a Partida mostra as 3 Jogadoras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777240" y="4331970"/>
            <a:ext cx="566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com mais pontos.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777240" y="4541520"/>
            <a:ext cx="566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Escreva os critérios de aceite em EARS, usando os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777240" y="4751070"/>
            <a:ext cx="566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termos do glossário do CLAUDE.md. Se encontrar um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777240" y="4960620"/>
            <a:ext cx="566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caso que a descrição não resolve, registre como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777240" y="5170170"/>
            <a:ext cx="566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pergunta em vez de decidir sozinha.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777240" y="5379720"/>
            <a:ext cx="566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Pare depois da fase SPECIFY e me mostre o spec.md.</a:t>
            </a:r>
            <a:endParaRPr lang="en-US" sz="1100" dirty="0"/>
          </a:p>
        </p:txBody>
      </p:sp>
      <p:pic>
        <p:nvPicPr>
          <p:cNvPr id="29" name="Image 1" descr="/home/claude/deck/media/gif-09-tlc-fases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99462"/>
            <a:ext cx="4828032" cy="229331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812280" y="4617720"/>
            <a:ext cx="4828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Mudança pequena pula Design e Tasks. No fim, um subagente que não escreveu o código confere a spec.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agent-skills.techleads.club/tlc-spec-driven · autor: Felipe Rodrigues (Tech Leads Club) · testado: 3.3.0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SAÍDA REAL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692908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26929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&lt;/TLC DEVOLVEU&gt;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Pódio parecia uma linha. Tem sete perguntas.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pic>
        <p:nvPicPr>
          <p:cNvPr id="8" name="Image 1" descr="/home/claude/deck/media/gif-13-tlc-perguntas-podio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8538"/>
            <a:ext cx="7863840" cy="373532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641080" y="2057400"/>
            <a:ext cx="2999232" cy="169164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8823960" y="221284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025128" y="221284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226296" y="221284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509760" y="2148840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copia e cola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8869680" y="2514600"/>
            <a:ext cx="26334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python3 .claude/skills/\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8869680" y="2705100"/>
            <a:ext cx="26334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tlc-spec-driven/scripts/\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8869680" y="2895600"/>
            <a:ext cx="26334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validate_spec.py \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8869680" y="3086100"/>
            <a:ext cx="26334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.specs/features/\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8869680" y="3276600"/>
            <a:ext cx="26334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podio-fim-da-partida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8641080" y="3931920"/>
            <a:ext cx="29992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Empate, menos de 3 Jogadoras, quem entrou atrasada. O TLC escreveu como pergunta: são os cartões rosa, feitos pelo agente.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MÃO NA MASSA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LAB 2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Sua primeira spec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⏱  25 min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OpenSpec ou TLC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394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Número par na chamada: OpenSpec. Ímpar: TLC. Na aula 10 vocês trocam.</a:t>
            </a:r>
            <a:endParaRPr lang="en-US" sz="1200" dirty="0"/>
          </a:p>
        </p:txBody>
      </p:sp>
      <p:pic>
        <p:nvPicPr>
          <p:cNvPr id="9" name="Image 0" descr="/home/claude/deck/star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411480"/>
            <a:ext cx="502920" cy="502920"/>
          </a:xfrm>
          <a:prstGeom prst="rect">
            <a:avLst/>
          </a:prstGeom>
        </p:spPr>
      </p:pic>
      <p:pic>
        <p:nvPicPr>
          <p:cNvPr id="11" name="Image 1" descr="/home/claude/deck/media/gif-07-tres-formatos-ultim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526" y="548640"/>
            <a:ext cx="7218947" cy="34290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9120" y="429768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389120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4864608" y="4279392"/>
            <a:ext cx="67208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feature pequena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de um contexto só do seu </a:t>
            </a:r>
            <a:pPr indent="0" marL="0">
              <a:buNone/>
            </a:pPr>
            <a:r>
              <a:rPr lang="en-US" sz="15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GLOSSARIO.md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389120" y="480060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389120" y="4800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864608" y="4782312"/>
            <a:ext cx="67208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cenários à mão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em Gherkin, antes de abrir o agente.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389120" y="530352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389120" y="5303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864608" y="5285232"/>
            <a:ext cx="67208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ferramenta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pela paridade, e o validador no fim.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25 MINUTOS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841955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28419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&lt;/PASSO A PASSO&gt;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Escreve primeiro, instala depois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10312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024128" y="2084832"/>
            <a:ext cx="4617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Escolha uma feature pequena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que mexe em um contexto só. (2 min)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2825496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2825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024128" y="2807208"/>
            <a:ext cx="4617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Escreva 3 cenários à mão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em Gherkin, sem abrir o agente. (8 min)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3547872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024128" y="3529584"/>
            <a:ext cx="4617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Instale e configure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sua ferramenta. (5 min)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4270248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4270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024128" y="4251960"/>
            <a:ext cx="46177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Rode o prompt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do próximo slide. (5 min)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48640" y="4818888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4818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1024128" y="4800600"/>
            <a:ext cx="4617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Valide e compare: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que ele acrescentou, mudou, perguntou. (5 min)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5943600" y="2103120"/>
            <a:ext cx="5696712" cy="187452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126480" y="225856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327648" y="225856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528816" y="225856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812280" y="2194560"/>
            <a:ext cx="4690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6172200" y="2560320"/>
            <a:ext cx="53309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par: OpenSpec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6172200" y="2779395"/>
            <a:ext cx="53309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npm install -g @fission-ai/openspec@latest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6172200" y="2998470"/>
            <a:ext cx="53309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openspec init --tools claude --language pt-BR</a:t>
            </a:r>
            <a:endParaRPr lang="en-US" sz="1150" dirty="0"/>
          </a:p>
        </p:txBody>
      </p:sp>
      <p:sp>
        <p:nvSpPr>
          <p:cNvPr id="31" name="Text 27"/>
          <p:cNvSpPr txBox="1"/>
          <p:nvPr/>
        </p:nvSpPr>
        <p:spPr>
          <a:xfrm>
            <a:off x="6172200" y="3217545"/>
            <a:ext cx="53309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cole o GLOSSARIO.md em openspec/config.yaml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5943600" y="4160520"/>
            <a:ext cx="5696712" cy="187452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126480" y="431596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327648" y="431596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528816" y="431596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812280" y="4251960"/>
            <a:ext cx="4690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ímpar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6172200" y="4617720"/>
            <a:ext cx="53309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ímpar: TLC</a:t>
            </a:r>
            <a:endParaRPr lang="en-US" sz="1150" dirty="0"/>
          </a:p>
        </p:txBody>
      </p:sp>
      <p:sp>
        <p:nvSpPr>
          <p:cNvPr id="38" name="Text 34"/>
          <p:cNvSpPr txBox="1"/>
          <p:nvPr/>
        </p:nvSpPr>
        <p:spPr>
          <a:xfrm>
            <a:off x="6172200" y="4836795"/>
            <a:ext cx="53309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npx @tech-leads-club/agent-skills install \</a:t>
            </a:r>
            <a:endParaRPr lang="en-US" sz="1150" dirty="0"/>
          </a:p>
        </p:txBody>
      </p:sp>
      <p:sp>
        <p:nvSpPr>
          <p:cNvPr id="39" name="Text 35"/>
          <p:cNvSpPr txBox="1"/>
          <p:nvPr/>
        </p:nvSpPr>
        <p:spPr>
          <a:xfrm>
            <a:off x="6172200" y="5055870"/>
            <a:ext cx="53309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-s tlc-spec-driven -a claude-code</a:t>
            </a:r>
            <a:endParaRPr lang="en-US" sz="1150" dirty="0"/>
          </a:p>
        </p:txBody>
      </p:sp>
      <p:sp>
        <p:nvSpPr>
          <p:cNvPr id="40" name="Text 36"/>
          <p:cNvSpPr txBox="1"/>
          <p:nvPr/>
        </p:nvSpPr>
        <p:spPr>
          <a:xfrm>
            <a:off x="6172200" y="5274945"/>
            <a:ext cx="53309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cole o GLOSSARIO.md no fim do CLAUDE.md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COPIA E COLA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99100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29910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&lt;/PROMPTS DO LAB&gt;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Troque o que está entre &lt; &gt;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057400"/>
            <a:ext cx="5440680" cy="425196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31520" y="221284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32688" y="221284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3856" y="221284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417320" y="2148840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514600"/>
            <a:ext cx="50749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par: OpenSpec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2733675"/>
            <a:ext cx="50749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/opsx:propose &lt;nome-em-kebab-case&gt;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3171825"/>
            <a:ext cx="50749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&lt;a regra em uma frase, com números&gt;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3609975"/>
            <a:ext cx="50749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Use estes cenários como critério de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3829050"/>
            <a:ext cx="50749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aceite. Não invente cenário novo sem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4048125"/>
            <a:ext cx="50749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me perguntar: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267200"/>
            <a:ext cx="50749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&lt;seus 3 cenários&gt;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4705350"/>
            <a:ext cx="50749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Mexa só em src/&lt;pasta&gt;/. &lt;outros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777240" y="4924425"/>
            <a:ext cx="50749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contextos&gt; ficam fora do escopo.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199632" y="2057400"/>
            <a:ext cx="5440680" cy="425196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382512" y="221284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583680" y="221284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784848" y="221284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068312" y="2148840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6428232" y="2514600"/>
            <a:ext cx="50749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ímpar: TLC</a:t>
            </a:r>
            <a:endParaRPr lang="en-US" sz="1150" dirty="0"/>
          </a:p>
        </p:txBody>
      </p:sp>
      <p:sp>
        <p:nvSpPr>
          <p:cNvPr id="28" name="Text 24"/>
          <p:cNvSpPr txBox="1"/>
          <p:nvPr/>
        </p:nvSpPr>
        <p:spPr>
          <a:xfrm>
            <a:off x="6428232" y="2733675"/>
            <a:ext cx="50749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Use a skill tlc-spec-driven para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6428232" y="2952750"/>
            <a:ext cx="50749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especificar a feature "&lt;nome&gt;":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6428232" y="3171825"/>
            <a:ext cx="50749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&lt;a regra em uma frase&gt;.</a:t>
            </a:r>
            <a:endParaRPr lang="en-US" sz="1150" dirty="0"/>
          </a:p>
        </p:txBody>
      </p:sp>
      <p:sp>
        <p:nvSpPr>
          <p:cNvPr id="31" name="Text 27"/>
          <p:cNvSpPr txBox="1"/>
          <p:nvPr/>
        </p:nvSpPr>
        <p:spPr>
          <a:xfrm>
            <a:off x="6428232" y="3390900"/>
            <a:ext cx="50749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Escreva os critérios de aceite em EARS,</a:t>
            </a:r>
            <a:endParaRPr lang="en-US" sz="1150" dirty="0"/>
          </a:p>
        </p:txBody>
      </p:sp>
      <p:sp>
        <p:nvSpPr>
          <p:cNvPr id="32" name="Text 28"/>
          <p:cNvSpPr txBox="1"/>
          <p:nvPr/>
        </p:nvSpPr>
        <p:spPr>
          <a:xfrm>
            <a:off x="6428232" y="3609975"/>
            <a:ext cx="50749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usando os termos do glossário do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6428232" y="3829050"/>
            <a:ext cx="50749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CLAUDE.md. Parta destes cenários e não</a:t>
            </a:r>
            <a:endParaRPr lang="en-US" sz="1150" dirty="0"/>
          </a:p>
        </p:txBody>
      </p:sp>
      <p:sp>
        <p:nvSpPr>
          <p:cNvPr id="34" name="Text 30"/>
          <p:cNvSpPr txBox="1"/>
          <p:nvPr/>
        </p:nvSpPr>
        <p:spPr>
          <a:xfrm>
            <a:off x="6428232" y="4048125"/>
            <a:ext cx="50749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invente outros sem perguntar:</a:t>
            </a:r>
            <a:endParaRPr lang="en-US" sz="1150" dirty="0"/>
          </a:p>
        </p:txBody>
      </p:sp>
      <p:sp>
        <p:nvSpPr>
          <p:cNvPr id="35" name="Text 31"/>
          <p:cNvSpPr txBox="1"/>
          <p:nvPr/>
        </p:nvSpPr>
        <p:spPr>
          <a:xfrm>
            <a:off x="6428232" y="4267200"/>
            <a:ext cx="50749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&lt;seus 3 cenários&gt;</a:t>
            </a:r>
            <a:endParaRPr lang="en-US" sz="1150" dirty="0"/>
          </a:p>
        </p:txBody>
      </p:sp>
      <p:sp>
        <p:nvSpPr>
          <p:cNvPr id="36" name="Text 32"/>
          <p:cNvSpPr txBox="1"/>
          <p:nvPr/>
        </p:nvSpPr>
        <p:spPr>
          <a:xfrm>
            <a:off x="6428232" y="4486275"/>
            <a:ext cx="50749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Se um caso não estiver resolvido,</a:t>
            </a:r>
            <a:endParaRPr lang="en-US" sz="1150" dirty="0"/>
          </a:p>
        </p:txBody>
      </p:sp>
      <p:sp>
        <p:nvSpPr>
          <p:cNvPr id="37" name="Text 33"/>
          <p:cNvSpPr txBox="1"/>
          <p:nvPr/>
        </p:nvSpPr>
        <p:spPr>
          <a:xfrm>
            <a:off x="6428232" y="4705350"/>
            <a:ext cx="50749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registre como pergunta. Pare depois</a:t>
            </a:r>
            <a:endParaRPr lang="en-US" sz="1150" dirty="0"/>
          </a:p>
        </p:txBody>
      </p:sp>
      <p:sp>
        <p:nvSpPr>
          <p:cNvPr id="38" name="Text 34"/>
          <p:cNvSpPr txBox="1"/>
          <p:nvPr/>
        </p:nvSpPr>
        <p:spPr>
          <a:xfrm>
            <a:off x="6428232" y="4924425"/>
            <a:ext cx="50749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  do SPECIFY e me mostre o spec.md.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GATE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841955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28419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&lt;/PRONTO QUANDO&gt;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Validador sem erro e três linhas suas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pic>
        <p:nvPicPr>
          <p:cNvPr id="8" name="Image 1" descr="/home/claude/deck/media/gif-11-tlc-validate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78" y="2011680"/>
            <a:ext cx="6737684" cy="3200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589520" y="2057400"/>
            <a:ext cx="4050792" cy="214884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7772400" y="221284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7973568" y="221284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174736" y="221284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458200" y="2148840"/>
            <a:ext cx="3044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copia e cola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7818120" y="2514600"/>
            <a:ext cx="36850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par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7818120" y="2714625"/>
            <a:ext cx="36850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openspec validate &lt;change&gt;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7818120" y="2914650"/>
            <a:ext cx="36850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ímpar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3114675"/>
            <a:ext cx="36850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python3 .claude/skills/\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818120" y="3314700"/>
            <a:ext cx="36850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tlc-spec-driven/scripts/\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7818120" y="3514725"/>
            <a:ext cx="36850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validate_spec.py .specs/\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7818120" y="3714750"/>
            <a:ext cx="36850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features/&lt;feature&gt;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5394960"/>
            <a:ext cx="11091672" cy="91440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77240" y="539496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Pronto quando: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validador sai sem erro </a:t>
            </a:r>
            <a:pPr indent="0" marL="0">
              <a:buNone/>
            </a:pPr>
            <a:r>
              <a:rPr lang="en-US" sz="14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existe um 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DIFERENCAS.md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 3 linhas: o que o agente acrescentou, o que mudou nos seus cenários, que pergunta ele fez (ou "nenhuma", que também é achado).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7589520" y="4389120"/>
            <a:ext cx="4050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validador confere forma. As três linhas só você escreve.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RECAP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394814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23948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&lt;/O QUE FICA&gt;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Pergunto antes de mostrar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148840"/>
            <a:ext cx="3593592" cy="37490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35000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[PEDIDO VAGO]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697480"/>
            <a:ext cx="313639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que o agente fez com a Resposta atrasada?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514344"/>
            <a:ext cx="3136392" cy="2246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Deu 500 pontos e escreveu teste garantindo.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97680" y="2148840"/>
            <a:ext cx="3593592" cy="37490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26280" y="235000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[CERCA]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697480"/>
            <a:ext cx="31363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Onde mora a cerca que segura o agente numa pasta?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3849624"/>
            <a:ext cx="313639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glossário, no contexto (</a:t>
            </a:r>
            <a:pPr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config.yaml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CLAUDE.md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 e no prompt.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46720" y="2148840"/>
            <a:ext cx="3593592" cy="374904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75320" y="235000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[TLC]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8275320" y="2697480"/>
            <a:ext cx="31363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Que pergunta o TLC fez que você não tinha pensado?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8275320" y="3849624"/>
            <a:ext cx="313639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resposta é de vocês.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AULA 10 · EXCALIDRAW COLETIVO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096719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20967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&lt;/DEMO DAY&gt;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Trios, fronteiras e spec trocada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10312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024128" y="2084832"/>
            <a:ext cx="58978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Rodada 1: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cada um desenha seus contextos e a seta com verbo no </a:t>
            </a:r>
            <a:pPr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board-bounded-contexts.excalidraw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Os outros dois perguntam: fronteira de domínio ou de técnica?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026664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3026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024128" y="3008376"/>
            <a:ext cx="58978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Rodada 2: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troca de spec. Quem fez OpenSpec lê uma do TLC e vice-versa. Missão: achar uma frase do cenário do colega que dá pra ler de dois jeitos.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950208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3950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024128" y="3931920"/>
            <a:ext cx="5897880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Traga pronto: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GLOSSARIO.md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+ a change validada do LAB 2.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48640" y="4498848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4498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024128" y="4480560"/>
            <a:ext cx="5897880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Trios: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sorteio com prioridade a domínios diferentes.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7223760" y="2103120"/>
            <a:ext cx="441655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1" descr="/home/claude/deck/media/ref-treinaweb-event-stormin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392035"/>
            <a:ext cx="4233672" cy="216537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imagem: treinaweb.com.br/blog/o-que-e-o-event-storming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ENTREGÁVEL · ANTES DA AULA 1 DA SEMANA 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394814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23948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&lt;/ENTREGÁVEL&gt;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Glossário e spec no seu repo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103120"/>
            <a:ext cx="3566160" cy="23774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3042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MÍNIMA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651760"/>
            <a:ext cx="3108960" cy="749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Glossário + uma change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510534"/>
            <a:ext cx="3108960" cy="832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GLOSSARIO.md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+ uma change validada (OpenSpec ou TLC) commitada no seu repo.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97680" y="2103120"/>
            <a:ext cx="3566160" cy="237744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26280" y="23042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COMPLETA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651760"/>
            <a:ext cx="3108960" cy="392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As duas ferramentas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3154299"/>
            <a:ext cx="3108960" cy="1189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mesma feature na outra ferramenta + um parágrafo: qual perguntou mais, qual inventou mais, qual você usaria.</a:t>
            </a:r>
            <a:endParaRPr lang="en-US" sz="1400" dirty="0"/>
          </a:p>
        </p:txBody>
      </p:sp>
      <p:pic>
        <p:nvPicPr>
          <p:cNvPr id="16" name="Image 1" descr="/home/claude/deck/media/gif-03-agente-vazando-ultim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449220"/>
            <a:ext cx="3547872" cy="16852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4864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Formulário: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forms.gle/PSd6i65g44GwBMgq6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5212080"/>
            <a:ext cx="11091672" cy="91440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77240" y="5212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Você é responsável por cada linha que commita. Inclusive as linhas da spec.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PRA LER DEPOIS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649578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49808"/>
            <a:ext cx="16495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&lt;/LINKS&gt;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Referências</a:t>
            </a:r>
            <a:endParaRPr lang="en-US" sz="2400" dirty="0"/>
          </a:p>
        </p:txBody>
      </p:sp>
      <p:pic>
        <p:nvPicPr>
          <p:cNvPr id="6" name="Image 0" descr="/home/claude/deck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66928" cy="56692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210312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martinfowler.com/bliki/BoundedContext.html · UbiquitousLanguage.html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44144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Douglas Alonso, DDD na Prática parte 2 (locadora de veículos)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77977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fabriciorissetto.com/blog/ddd-bounded-context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11810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treinaweb.com.br/blog/o-que-e-o-event-storming · Involves no Medium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45643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fullcycle.com.br/domain-driven-design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7947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Lílian Borba, critérios de aceitação (Medium)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13308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dgosantos89.github.io/Gherkin-p1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47141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cucumber.io/blog/bdd/example-mapping-introduction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480974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martinfowler.com/articles/exploring-gen-ai/sdd-3-tools.html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1480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github.com/Fission-AI/OpenSpec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54864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agent-skills.techleads.club/tlc-spec-driven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8247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gitclear.com/the_ai_code_quality_maintainability_gap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589520" y="210312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1" descr="/home/claude/deck/media/ref-fowler-bounded-con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268470"/>
            <a:ext cx="1828800" cy="1132340"/>
          </a:xfrm>
          <a:prstGeom prst="rect">
            <a:avLst/>
          </a:prstGeom>
        </p:spPr>
      </p:pic>
      <p:pic>
        <p:nvPicPr>
          <p:cNvPr id="22" name="Image 2" descr="/home/claude/deck/media/ref-wynne-example-mapping-mes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183804"/>
            <a:ext cx="1947672" cy="130167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7589520" y="374904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/home/claude/deck/media/ref-bockeler-sdd-nivei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3978293"/>
            <a:ext cx="1828800" cy="1004534"/>
          </a:xfrm>
          <a:prstGeom prst="rect">
            <a:avLst/>
          </a:prstGeom>
        </p:spPr>
      </p:pic>
      <p:pic>
        <p:nvPicPr>
          <p:cNvPr id="25" name="Image 4" descr="/home/claude/deck/media/ref-openspec-dash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8454" y="3749040"/>
            <a:ext cx="1596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DD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star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4864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DÚVIDAS E SUPORTE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737360"/>
            <a:ext cx="10058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Você é responsável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por cada linha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que commita.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800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E, a partir de hoje, por cada linha da spec que você entrega pro agente.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Material: github.com/oliviasmim/pda-especializacao-ia  ·  pasta aula9-engenharia-para-ia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5 - Engenharia de software na era da IA</dc:title>
  <dc:subject>PptxGenJS Presentation</dc:subject>
  <dc:creator>Iasmim Oliveira</dc:creator>
  <cp:lastModifiedBy>Iasmim Oliveira</cp:lastModifiedBy>
  <cp:revision>1</cp:revision>
  <dcterms:created xsi:type="dcterms:W3CDTF">2026-10-05T21:42:04Z</dcterms:created>
  <dcterms:modified xsi:type="dcterms:W3CDTF">2026-10-05T21:42:04Z</dcterms:modified>
</cp:coreProperties>
</file>